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3537" y="1781324"/>
            <a:ext cx="585677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43537" y="2482304"/>
            <a:ext cx="585677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 for Travel &amp; Tourism Leaders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643537" y="3122265"/>
            <a:ext cx="5856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the Transformative Leap in Human Endeavor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669306684771273584e8ad50e90f351b5c5e7da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170" y="2742605"/>
            <a:ext cx="5097661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AI Matters Now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no longer a futuristic concept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it is a transformative technology that caught global attention in 2023.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2034183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objective: Help business leaders understand opportunities for personalized, seamless, and sustainable travel experiences.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Brief History of "Thinking Machines"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1956: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term "Artificial Intelligence" is coined at the Dartmouth Conference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1997: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IBM Deep Blue beats a chess champion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IBM Watson wins Jeopardy!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2018: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AI-generated art begins selling at Christie's auction house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13134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2023: AI featured as lead story across Time, Science, and The Economist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4591521/search_images/d1085715663a0004840d3b18142e90117f57ab5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0559" y="3100983"/>
            <a:ext cx="4002881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2023 Catalyst: ChatGPT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81807" y="1325761"/>
            <a:ext cx="7527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 Adoption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81807" y="1744861"/>
            <a:ext cx="75278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 reached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million users in just 2 months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the fastest-growing consumer product ever.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81807" y="2213372"/>
            <a:ext cx="7527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Mainstream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1807" y="2632472"/>
            <a:ext cx="75278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the supercomputers of the 90s, modern AI is accessible via smartphones and the cloud.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Core Elements of AI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373" y="1554361"/>
            <a:ext cx="21243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7373" y="2163961"/>
            <a:ext cx="2124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2560141"/>
            <a:ext cx="20827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"Brains" that tell computers what to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09672" y="1554361"/>
            <a:ext cx="21245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⛽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09672" y="2163961"/>
            <a:ext cx="21245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30501" y="2560141"/>
            <a:ext cx="20828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"Fuel" that tells computers what to learn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02123" y="1554361"/>
            <a:ext cx="21243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22950" y="2163961"/>
            <a:ext cx="20827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Computing Power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22950" y="2880122"/>
            <a:ext cx="20827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"Machines" that provide the power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44a5064c6b9ffa9e587a6687b1b43d6217ab95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092" y="2994124"/>
            <a:ext cx="5001816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Algorithms: From Rules to Learning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74055" y="1325761"/>
            <a:ext cx="77476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Programming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74055" y="1718072"/>
            <a:ext cx="77476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"IF-THEN-ELSE" rules (e.g., if fever, then prescribe Drug X)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4055" y="2159943"/>
            <a:ext cx="77476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Approach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4055" y="2552254"/>
            <a:ext cx="77476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Systems "learn" from training data to calculate the best route to an outcome without explicit step-by-step coding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1dab7adeaa7033ef697c67fefb19013c63a825b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638" y="2502694"/>
            <a:ext cx="4746575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"Black Box" vs. "Glass Box"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isn't always possible to know exactly how an AI reached a decision.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1794272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field dedicated to making AI decisions transparent – turning a "black box" into a "glass box".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1f30e7098b9f941c71a6adff7a378de4c4229a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927" y="2502694"/>
            <a:ext cx="4311997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Data: The Fuel Driving Innovation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Explosion: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90% of the world's data was generated in just the last two years.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1794272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by 2025: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Global data production will reach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 zettabytes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equivalent to 21 laptops for every person on Earth.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162922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162922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162922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01901" y="3107382"/>
            <a:ext cx="2540050" cy="142651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Data &amp; The 4 V's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17373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904851"/>
            <a:ext cx="2082701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 quantities of information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509672" y="155436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30501" y="1904851"/>
            <a:ext cx="208285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Incredible speed of data production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202123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Variety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02123" y="1904851"/>
            <a:ext cx="212435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Text, images, video formats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509672" y="3335982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Veracity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09672" y="3686473"/>
            <a:ext cx="2124507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accuracy &amp; reliability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5605090/search_images/14443f71b5ff840f28a7edaf2ef215b0c4cf1f5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28306"/>
            <a:ext cx="507995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Big Data: Lakes and Warehouses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49914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1718072"/>
            <a:ext cx="49914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Structured, neatly organized "filing cabinets" (e.g., booking rates)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600" y="2159943"/>
            <a:ext cx="49914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Lake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600" y="2552254"/>
            <a:ext cx="49914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Unstructured, open repositories for diverse data (e.g., social media posts)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2994124"/>
            <a:ext cx="49914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Lakehouse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600" y="3386435"/>
            <a:ext cx="49914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hybrid solution offering the best of both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119166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119166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119166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Computing Power: The Machines Behind AI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373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04851"/>
            <a:ext cx="208270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Processing – Originally for gaming, now essential for AI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09672" y="155436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30501" y="1904851"/>
            <a:ext cx="208285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Processing – Google's AI-specific chip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02123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Supercomputers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22950" y="1904851"/>
            <a:ext cx="208270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ChatGPT system: 10,000 GPUs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8/search_images/4c1b3b5c04fc4f11b5366537c3b8c7eaa1b1f2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468" y="2262783"/>
            <a:ext cx="4982914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Geopolitics of AI Chips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12291" y="1325761"/>
            <a:ext cx="78736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Dependence: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70% of the world's chips are manufactured by just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TSMC and Samsung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2291" y="1794272"/>
            <a:ext cx="78736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Investment: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Major powers (US, EU, China) are investing billions to secure local supply chains.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Classifying AI: Capabilities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 (Narrow)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04851"/>
            <a:ext cx="2082701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one specific task (e.g., spam filters). This is the most common AI today.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30501" y="155436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 (General)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30501" y="1904851"/>
            <a:ext cx="208285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Theoretical AI that rivals human intelligence across all areas.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2950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 (Super)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22950" y="1904851"/>
            <a:ext cx="2082701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AI that exceeds human intelligence (linked to "Singularity").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3936704/search_images/180252d1e29e9b98dc16b71acf5854209b3f280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391" y="2262783"/>
            <a:ext cx="4417219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Functionality: AI Expert Systems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402259" y="1325761"/>
            <a:ext cx="64662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Simulates human expertise in a specific area, like travel planning.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02259" y="1794272"/>
            <a:ext cx="64662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Mechanism: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Combines a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(facts) with an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Engine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(AI brain).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1dab7adeaa7033ef697c67fefb19013c63a825b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638" y="3466654"/>
            <a:ext cx="4746575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Functionality: Predictive AI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605558" y="1325761"/>
            <a:ext cx="60515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Uses historical data to forecast the future (e.g., flight delays, weather)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605558" y="1794272"/>
            <a:ext cx="60515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Types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910358" y="2186583"/>
            <a:ext cx="5628084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Descriptive: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 happened?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Why did it happen?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Prescriptive: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How should we act?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fe8d3541f11e8e05e552af4cfa7d194e6d2d55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210" y="2502694"/>
            <a:ext cx="4739432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Rise of Generative AI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 produce new content (text, images, audio) from a user "prompt".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1794272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Models: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trained on broad datasets applicable to many tasks – from code generation to video editing.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beff46ba4c7b1d6c99552d5374086511718a76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423" y="2502694"/>
            <a:ext cx="3333155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(LLMs)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3257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Mechanism: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Designed to understand and generate human-like text by learning patterns from massive document collections.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203418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 translate languages, summarize reports, and draw complex data tables in seconds.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320813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&amp; Hallucinations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04851"/>
            <a:ext cx="2082701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art of providing clear instructions to guide AI output.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30501" y="155436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30501" y="1904851"/>
            <a:ext cx="208285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feature where AI produces convincing but incorrect information.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2950" y="15543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Required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22950" y="1904851"/>
            <a:ext cx="20827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leaders must verify AI outputs for critical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6130225/search_images/be865f42d92b7f7d79d81394117c75261852e9d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82" y="2262783"/>
            <a:ext cx="4351288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Global Digital Divide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230957" y="1325761"/>
            <a:ext cx="68157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 of the world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(2.6 billion people) has never been connected to the internet.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30957" y="1794272"/>
            <a:ext cx="68157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AI revolution could worsen international inequality if not shared globally.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2539901" cy="1386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325761"/>
            <a:ext cx="2540050" cy="1386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1325761"/>
            <a:ext cx="2539901" cy="1386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the AI Skills Gap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373" y="1554361"/>
            <a:ext cx="212435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200" y="2057251"/>
            <a:ext cx="20827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in job postings requiring AI skills in 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09672" y="1554361"/>
            <a:ext cx="212450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09672" y="2057251"/>
            <a:ext cx="2124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offered AI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02123" y="1554361"/>
            <a:ext cx="2124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22950" y="1897261"/>
            <a:ext cx="20827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Upskilling through free resources &amp; peer mentoring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94099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"Mere connectivity is not sufficient" – Doreen Bogdan-Martin, UN ITU Secretary General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2025-12-19T07:45:24Z</dcterms:created>
  <dcterms:modified xsi:type="dcterms:W3CDTF">2025-12-19T07:45:24Z</dcterms:modified>
</cp:coreProperties>
</file>